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BE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758"/>
  </p:normalViewPr>
  <p:slideViewPr>
    <p:cSldViewPr snapToGrid="0">
      <p:cViewPr>
        <p:scale>
          <a:sx n="123" d="100"/>
          <a:sy n="123" d="100"/>
        </p:scale>
        <p:origin x="230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7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9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7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3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5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6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2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21C54-5E9E-8444-959D-3C3EF7C0B317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0DFE2-16C2-4944-BC8A-681F0D176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8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1DFC9129-FDDC-156B-433B-47CBE954A01F}"/>
              </a:ext>
            </a:extLst>
          </p:cNvPr>
          <p:cNvSpPr/>
          <p:nvPr/>
        </p:nvSpPr>
        <p:spPr>
          <a:xfrm>
            <a:off x="3140112" y="4354074"/>
            <a:ext cx="2331211" cy="2132676"/>
          </a:xfrm>
          <a:prstGeom prst="roundRect">
            <a:avLst>
              <a:gd name="adj" fmla="val 72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EC8C1998-9BD9-E334-90F8-4462F533A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6" y="1172948"/>
            <a:ext cx="2128805" cy="176212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85726B6-F539-7010-3CAB-FD88989CAAB2}"/>
              </a:ext>
            </a:extLst>
          </p:cNvPr>
          <p:cNvSpPr txBox="1"/>
          <p:nvPr/>
        </p:nvSpPr>
        <p:spPr>
          <a:xfrm>
            <a:off x="650645" y="509716"/>
            <a:ext cx="2128805" cy="2539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PEER Performance Database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48C969-3BED-4E78-1B5D-1E2FB323FD2D}"/>
              </a:ext>
            </a:extLst>
          </p:cNvPr>
          <p:cNvGrpSpPr/>
          <p:nvPr/>
        </p:nvGrpSpPr>
        <p:grpSpPr>
          <a:xfrm>
            <a:off x="1057265" y="1327952"/>
            <a:ext cx="439736" cy="580487"/>
            <a:chOff x="1823569" y="713368"/>
            <a:chExt cx="1378252" cy="249227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C3E6B7-65EE-DDE1-AA90-9EB595B10F58}"/>
                </a:ext>
              </a:extLst>
            </p:cNvPr>
            <p:cNvSpPr/>
            <p:nvPr/>
          </p:nvSpPr>
          <p:spPr>
            <a:xfrm>
              <a:off x="2638248" y="1445916"/>
              <a:ext cx="280466" cy="1559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EF185A-402E-BD61-368C-DEE19FF3A4CD}"/>
                </a:ext>
              </a:extLst>
            </p:cNvPr>
            <p:cNvSpPr/>
            <p:nvPr/>
          </p:nvSpPr>
          <p:spPr>
            <a:xfrm rot="635653">
              <a:off x="2712826" y="1426212"/>
              <a:ext cx="326869" cy="1613054"/>
            </a:xfrm>
            <a:custGeom>
              <a:avLst/>
              <a:gdLst>
                <a:gd name="connsiteX0" fmla="*/ 0 w 280466"/>
                <a:gd name="connsiteY0" fmla="*/ 0 h 1613054"/>
                <a:gd name="connsiteX1" fmla="*/ 280466 w 280466"/>
                <a:gd name="connsiteY1" fmla="*/ 0 h 1613054"/>
                <a:gd name="connsiteX2" fmla="*/ 280466 w 280466"/>
                <a:gd name="connsiteY2" fmla="*/ 1613054 h 1613054"/>
                <a:gd name="connsiteX3" fmla="*/ 0 w 280466"/>
                <a:gd name="connsiteY3" fmla="*/ 1613054 h 1613054"/>
                <a:gd name="connsiteX4" fmla="*/ 0 w 280466"/>
                <a:gd name="connsiteY4" fmla="*/ 0 h 1613054"/>
                <a:gd name="connsiteX0" fmla="*/ 0 w 288684"/>
                <a:gd name="connsiteY0" fmla="*/ 0 h 1613054"/>
                <a:gd name="connsiteX1" fmla="*/ 280466 w 288684"/>
                <a:gd name="connsiteY1" fmla="*/ 0 h 1613054"/>
                <a:gd name="connsiteX2" fmla="*/ 288684 w 288684"/>
                <a:gd name="connsiteY2" fmla="*/ 1553376 h 1613054"/>
                <a:gd name="connsiteX3" fmla="*/ 0 w 288684"/>
                <a:gd name="connsiteY3" fmla="*/ 1613054 h 1613054"/>
                <a:gd name="connsiteX4" fmla="*/ 0 w 288684"/>
                <a:gd name="connsiteY4" fmla="*/ 0 h 1613054"/>
                <a:gd name="connsiteX0" fmla="*/ 0 w 280531"/>
                <a:gd name="connsiteY0" fmla="*/ 0 h 1613054"/>
                <a:gd name="connsiteX1" fmla="*/ 280466 w 280531"/>
                <a:gd name="connsiteY1" fmla="*/ 0 h 1613054"/>
                <a:gd name="connsiteX2" fmla="*/ 202489 w 280531"/>
                <a:gd name="connsiteY2" fmla="*/ 1524277 h 1613054"/>
                <a:gd name="connsiteX3" fmla="*/ 0 w 280531"/>
                <a:gd name="connsiteY3" fmla="*/ 1613054 h 1613054"/>
                <a:gd name="connsiteX4" fmla="*/ 0 w 280531"/>
                <a:gd name="connsiteY4" fmla="*/ 0 h 1613054"/>
                <a:gd name="connsiteX0" fmla="*/ 0 w 281197"/>
                <a:gd name="connsiteY0" fmla="*/ 0 h 1613054"/>
                <a:gd name="connsiteX1" fmla="*/ 280466 w 281197"/>
                <a:gd name="connsiteY1" fmla="*/ 0 h 1613054"/>
                <a:gd name="connsiteX2" fmla="*/ 279905 w 281197"/>
                <a:gd name="connsiteY2" fmla="*/ 1558248 h 1613054"/>
                <a:gd name="connsiteX3" fmla="*/ 0 w 281197"/>
                <a:gd name="connsiteY3" fmla="*/ 1613054 h 1613054"/>
                <a:gd name="connsiteX4" fmla="*/ 0 w 281197"/>
                <a:gd name="connsiteY4" fmla="*/ 0 h 1613054"/>
                <a:gd name="connsiteX0" fmla="*/ 45513 w 326710"/>
                <a:gd name="connsiteY0" fmla="*/ 0 h 1613054"/>
                <a:gd name="connsiteX1" fmla="*/ 325979 w 326710"/>
                <a:gd name="connsiteY1" fmla="*/ 0 h 1613054"/>
                <a:gd name="connsiteX2" fmla="*/ 325418 w 326710"/>
                <a:gd name="connsiteY2" fmla="*/ 1558248 h 1613054"/>
                <a:gd name="connsiteX3" fmla="*/ 45513 w 326710"/>
                <a:gd name="connsiteY3" fmla="*/ 1613054 h 1613054"/>
                <a:gd name="connsiteX4" fmla="*/ 45513 w 326710"/>
                <a:gd name="connsiteY4" fmla="*/ 0 h 1613054"/>
                <a:gd name="connsiteX0" fmla="*/ 45513 w 325979"/>
                <a:gd name="connsiteY0" fmla="*/ 0 h 1613054"/>
                <a:gd name="connsiteX1" fmla="*/ 325979 w 325979"/>
                <a:gd name="connsiteY1" fmla="*/ 0 h 1613054"/>
                <a:gd name="connsiteX2" fmla="*/ 325418 w 325979"/>
                <a:gd name="connsiteY2" fmla="*/ 1558248 h 1613054"/>
                <a:gd name="connsiteX3" fmla="*/ 45513 w 325979"/>
                <a:gd name="connsiteY3" fmla="*/ 1613054 h 1613054"/>
                <a:gd name="connsiteX4" fmla="*/ 45513 w 325979"/>
                <a:gd name="connsiteY4" fmla="*/ 0 h 1613054"/>
                <a:gd name="connsiteX0" fmla="*/ 45513 w 325979"/>
                <a:gd name="connsiteY0" fmla="*/ 0 h 1613054"/>
                <a:gd name="connsiteX1" fmla="*/ 325979 w 325979"/>
                <a:gd name="connsiteY1" fmla="*/ 0 h 1613054"/>
                <a:gd name="connsiteX2" fmla="*/ 325418 w 325979"/>
                <a:gd name="connsiteY2" fmla="*/ 1558248 h 1613054"/>
                <a:gd name="connsiteX3" fmla="*/ 45513 w 325979"/>
                <a:gd name="connsiteY3" fmla="*/ 1613054 h 1613054"/>
                <a:gd name="connsiteX4" fmla="*/ 45513 w 325979"/>
                <a:gd name="connsiteY4" fmla="*/ 0 h 1613054"/>
                <a:gd name="connsiteX0" fmla="*/ 20297 w 300763"/>
                <a:gd name="connsiteY0" fmla="*/ 0 h 1613054"/>
                <a:gd name="connsiteX1" fmla="*/ 300763 w 300763"/>
                <a:gd name="connsiteY1" fmla="*/ 0 h 1613054"/>
                <a:gd name="connsiteX2" fmla="*/ 300202 w 300763"/>
                <a:gd name="connsiteY2" fmla="*/ 1558248 h 1613054"/>
                <a:gd name="connsiteX3" fmla="*/ 20297 w 300763"/>
                <a:gd name="connsiteY3" fmla="*/ 1613054 h 1613054"/>
                <a:gd name="connsiteX4" fmla="*/ 20297 w 300763"/>
                <a:gd name="connsiteY4" fmla="*/ 0 h 1613054"/>
                <a:gd name="connsiteX0" fmla="*/ 54111 w 334577"/>
                <a:gd name="connsiteY0" fmla="*/ 0 h 1613054"/>
                <a:gd name="connsiteX1" fmla="*/ 334577 w 334577"/>
                <a:gd name="connsiteY1" fmla="*/ 0 h 1613054"/>
                <a:gd name="connsiteX2" fmla="*/ 334016 w 334577"/>
                <a:gd name="connsiteY2" fmla="*/ 1558248 h 1613054"/>
                <a:gd name="connsiteX3" fmla="*/ 54111 w 334577"/>
                <a:gd name="connsiteY3" fmla="*/ 1613054 h 1613054"/>
                <a:gd name="connsiteX4" fmla="*/ 54111 w 334577"/>
                <a:gd name="connsiteY4" fmla="*/ 0 h 1613054"/>
                <a:gd name="connsiteX0" fmla="*/ 46018 w 326484"/>
                <a:gd name="connsiteY0" fmla="*/ 0 h 1613054"/>
                <a:gd name="connsiteX1" fmla="*/ 326484 w 326484"/>
                <a:gd name="connsiteY1" fmla="*/ 0 h 1613054"/>
                <a:gd name="connsiteX2" fmla="*/ 325923 w 326484"/>
                <a:gd name="connsiteY2" fmla="*/ 1558248 h 1613054"/>
                <a:gd name="connsiteX3" fmla="*/ 46018 w 326484"/>
                <a:gd name="connsiteY3" fmla="*/ 1613054 h 1613054"/>
                <a:gd name="connsiteX4" fmla="*/ 46018 w 326484"/>
                <a:gd name="connsiteY4" fmla="*/ 0 h 1613054"/>
                <a:gd name="connsiteX0" fmla="*/ 46018 w 326484"/>
                <a:gd name="connsiteY0" fmla="*/ 0 h 1613054"/>
                <a:gd name="connsiteX1" fmla="*/ 326484 w 326484"/>
                <a:gd name="connsiteY1" fmla="*/ 0 h 1613054"/>
                <a:gd name="connsiteX2" fmla="*/ 325923 w 326484"/>
                <a:gd name="connsiteY2" fmla="*/ 1558248 h 1613054"/>
                <a:gd name="connsiteX3" fmla="*/ 46018 w 326484"/>
                <a:gd name="connsiteY3" fmla="*/ 1613054 h 1613054"/>
                <a:gd name="connsiteX4" fmla="*/ 46018 w 326484"/>
                <a:gd name="connsiteY4" fmla="*/ 0 h 1613054"/>
                <a:gd name="connsiteX0" fmla="*/ 46018 w 326869"/>
                <a:gd name="connsiteY0" fmla="*/ 0 h 1613054"/>
                <a:gd name="connsiteX1" fmla="*/ 326869 w 326869"/>
                <a:gd name="connsiteY1" fmla="*/ 19512 h 1613054"/>
                <a:gd name="connsiteX2" fmla="*/ 325923 w 326869"/>
                <a:gd name="connsiteY2" fmla="*/ 1558248 h 1613054"/>
                <a:gd name="connsiteX3" fmla="*/ 46018 w 326869"/>
                <a:gd name="connsiteY3" fmla="*/ 1613054 h 1613054"/>
                <a:gd name="connsiteX4" fmla="*/ 46018 w 326869"/>
                <a:gd name="connsiteY4" fmla="*/ 0 h 161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869" h="1613054">
                  <a:moveTo>
                    <a:pt x="46018" y="0"/>
                  </a:moveTo>
                  <a:lnTo>
                    <a:pt x="326869" y="19512"/>
                  </a:lnTo>
                  <a:cubicBezTo>
                    <a:pt x="280819" y="604571"/>
                    <a:pt x="246913" y="1064412"/>
                    <a:pt x="325923" y="1558248"/>
                  </a:cubicBezTo>
                  <a:lnTo>
                    <a:pt x="46018" y="1613054"/>
                  </a:lnTo>
                  <a:cubicBezTo>
                    <a:pt x="-29265" y="1070069"/>
                    <a:pt x="350" y="604368"/>
                    <a:pt x="46018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080AEAB-9A00-26D5-7A49-A79457DD76C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203" y="1449474"/>
              <a:ext cx="2928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EEAD1E4-C128-5E0F-A595-25F6C3BE2777}"/>
                    </a:ext>
                  </a:extLst>
                </p:cNvPr>
                <p:cNvSpPr txBox="1"/>
                <p:nvPr/>
              </p:nvSpPr>
              <p:spPr>
                <a:xfrm>
                  <a:off x="1823569" y="1107363"/>
                  <a:ext cx="403628" cy="991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EEAD1E4-C128-5E0F-A595-25F6C3BE2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3569" y="1107363"/>
                  <a:ext cx="403628" cy="991060"/>
                </a:xfrm>
                <a:prstGeom prst="rect">
                  <a:avLst/>
                </a:prstGeom>
                <a:blipFill>
                  <a:blip r:embed="rId3"/>
                  <a:stretch>
                    <a:fillRect r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28E9DF4-0854-1646-1706-86498734DC4F}"/>
                    </a:ext>
                  </a:extLst>
                </p:cNvPr>
                <p:cNvSpPr txBox="1"/>
                <p:nvPr/>
              </p:nvSpPr>
              <p:spPr>
                <a:xfrm>
                  <a:off x="2585915" y="713368"/>
                  <a:ext cx="541289" cy="991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900" dirty="0"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28E9DF4-0854-1646-1706-86498734D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5915" y="713368"/>
                  <a:ext cx="541289" cy="991060"/>
                </a:xfrm>
                <a:prstGeom prst="rect">
                  <a:avLst/>
                </a:prstGeom>
                <a:blipFill>
                  <a:blip r:embed="rId4"/>
                  <a:stretch>
                    <a:fillRect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A13490-48B2-6F81-4AD3-530A6B02D14B}"/>
                </a:ext>
              </a:extLst>
            </p:cNvPr>
            <p:cNvSpPr/>
            <p:nvPr/>
          </p:nvSpPr>
          <p:spPr>
            <a:xfrm rot="5400000">
              <a:off x="2665943" y="2669766"/>
              <a:ext cx="228082" cy="8436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FE52A5AA-D41B-28C1-07A5-E54DAB35214F}"/>
              </a:ext>
            </a:extLst>
          </p:cNvPr>
          <p:cNvSpPr txBox="1"/>
          <p:nvPr/>
        </p:nvSpPr>
        <p:spPr>
          <a:xfrm>
            <a:off x="3209060" y="509716"/>
            <a:ext cx="2128805" cy="2539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Simulation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CE42B05-81D3-4B4A-FBAC-5CD1DB167181}"/>
                  </a:ext>
                </a:extLst>
              </p:cNvPr>
              <p:cNvSpPr txBox="1"/>
              <p:nvPr/>
            </p:nvSpPr>
            <p:spPr>
              <a:xfrm>
                <a:off x="752451" y="3458738"/>
                <a:ext cx="2023769" cy="41549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Non-dimensional parameters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CE42B05-81D3-4B4A-FBAC-5CD1DB167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51" y="3458738"/>
                <a:ext cx="2023769" cy="415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1FA312-33AF-2D6A-4F1F-2C51AD1B0015}"/>
                  </a:ext>
                </a:extLst>
              </p:cNvPr>
              <p:cNvSpPr txBox="1"/>
              <p:nvPr/>
            </p:nvSpPr>
            <p:spPr>
              <a:xfrm>
                <a:off x="3307430" y="1184145"/>
                <a:ext cx="201237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5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̇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050" i="1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1FA312-33AF-2D6A-4F1F-2C51AD1B0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30" y="1184145"/>
                <a:ext cx="2012374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8EDECB0-2C2E-0165-FDDB-5E9679348963}"/>
              </a:ext>
            </a:extLst>
          </p:cNvPr>
          <p:cNvSpPr txBox="1"/>
          <p:nvPr/>
        </p:nvSpPr>
        <p:spPr>
          <a:xfrm>
            <a:off x="5681545" y="509716"/>
            <a:ext cx="2128805" cy="2539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Bayesian Calibration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0B1513F-61F5-D517-9BDA-94FDB3FF5A12}"/>
                  </a:ext>
                </a:extLst>
              </p:cNvPr>
              <p:cNvSpPr txBox="1"/>
              <p:nvPr/>
            </p:nvSpPr>
            <p:spPr>
              <a:xfrm>
                <a:off x="5786580" y="2388859"/>
                <a:ext cx="2023769" cy="43390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Best fit parameters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05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050" i="1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0B1513F-61F5-D517-9BDA-94FDB3FF5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580" y="2388859"/>
                <a:ext cx="2023769" cy="433901"/>
              </a:xfrm>
              <a:prstGeom prst="rect">
                <a:avLst/>
              </a:prstGeom>
              <a:blipFill>
                <a:blip r:embed="rId7"/>
                <a:stretch>
                  <a:fillRect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78F7906-D5D1-8C9E-C702-031BC2CD647E}"/>
              </a:ext>
            </a:extLst>
          </p:cNvPr>
          <p:cNvGrpSpPr/>
          <p:nvPr/>
        </p:nvGrpSpPr>
        <p:grpSpPr>
          <a:xfrm>
            <a:off x="3994396" y="1509837"/>
            <a:ext cx="704876" cy="1312923"/>
            <a:chOff x="5138920" y="1812712"/>
            <a:chExt cx="939835" cy="1750564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E51136F-DE64-3FE0-3314-E4DF8B98A746}"/>
                </a:ext>
              </a:extLst>
            </p:cNvPr>
            <p:cNvSpPr/>
            <p:nvPr/>
          </p:nvSpPr>
          <p:spPr>
            <a:xfrm>
              <a:off x="5158276" y="3356812"/>
              <a:ext cx="538620" cy="2064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F1E3BE5-1DFD-4719-D0CF-BA8BB2BAFD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9404" y="1812713"/>
              <a:ext cx="382996" cy="1456038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4B9D28D-1633-4F57-429C-D53714AFB42E}"/>
                </a:ext>
              </a:extLst>
            </p:cNvPr>
            <p:cNvCxnSpPr>
              <a:cxnSpLocks/>
            </p:cNvCxnSpPr>
            <p:nvPr/>
          </p:nvCxnSpPr>
          <p:spPr>
            <a:xfrm>
              <a:off x="5439404" y="1812712"/>
              <a:ext cx="0" cy="154410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208762D-C518-553D-8E7A-AB404CE440CC}"/>
                </a:ext>
              </a:extLst>
            </p:cNvPr>
            <p:cNvCxnSpPr/>
            <p:nvPr/>
          </p:nvCxnSpPr>
          <p:spPr>
            <a:xfrm>
              <a:off x="5158276" y="3356812"/>
              <a:ext cx="53862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D0F3D54-2744-32C8-085C-6044BD17E533}"/>
                    </a:ext>
                  </a:extLst>
                </p:cNvPr>
                <p:cNvSpPr txBox="1"/>
                <p:nvPr/>
              </p:nvSpPr>
              <p:spPr>
                <a:xfrm rot="16200000">
                  <a:off x="4731196" y="2406173"/>
                  <a:ext cx="1154003" cy="338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𝐸𝐼</m:t>
                        </m:r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050" i="1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D0F3D54-2744-32C8-085C-6044BD17E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731196" y="2406173"/>
                  <a:ext cx="1154003" cy="33855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2C443D3-6ED4-2650-65CE-814E9C723DBF}"/>
                </a:ext>
              </a:extLst>
            </p:cNvPr>
            <p:cNvSpPr/>
            <p:nvPr/>
          </p:nvSpPr>
          <p:spPr>
            <a:xfrm>
              <a:off x="5446696" y="1812712"/>
              <a:ext cx="632059" cy="1425501"/>
            </a:xfrm>
            <a:custGeom>
              <a:avLst/>
              <a:gdLst>
                <a:gd name="connsiteX0" fmla="*/ 0 w 632059"/>
                <a:gd name="connsiteY0" fmla="*/ 1411705 h 1411705"/>
                <a:gd name="connsiteX1" fmla="*/ 269507 w 632059"/>
                <a:gd name="connsiteY1" fmla="*/ 676977 h 1411705"/>
                <a:gd name="connsiteX2" fmla="*/ 632059 w 632059"/>
                <a:gd name="connsiteY2" fmla="*/ 0 h 14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59" h="1411705">
                  <a:moveTo>
                    <a:pt x="0" y="1411705"/>
                  </a:moveTo>
                  <a:cubicBezTo>
                    <a:pt x="82082" y="1161983"/>
                    <a:pt x="164164" y="912261"/>
                    <a:pt x="269507" y="676977"/>
                  </a:cubicBezTo>
                  <a:cubicBezTo>
                    <a:pt x="374850" y="441693"/>
                    <a:pt x="503454" y="220846"/>
                    <a:pt x="632059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F4590BA-46ED-108E-330B-833C6810B068}"/>
                </a:ext>
              </a:extLst>
            </p:cNvPr>
            <p:cNvSpPr/>
            <p:nvPr/>
          </p:nvSpPr>
          <p:spPr>
            <a:xfrm>
              <a:off x="5377643" y="3182798"/>
              <a:ext cx="122246" cy="12037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F20477B-515D-8302-9904-A089B055D925}"/>
              </a:ext>
            </a:extLst>
          </p:cNvPr>
          <p:cNvSpPr txBox="1"/>
          <p:nvPr/>
        </p:nvSpPr>
        <p:spPr>
          <a:xfrm>
            <a:off x="2010777" y="2310971"/>
            <a:ext cx="651574" cy="230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x290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628E58-F31F-6FE3-A154-18DE80EF40AE}"/>
              </a:ext>
            </a:extLst>
          </p:cNvPr>
          <p:cNvSpPr txBox="1"/>
          <p:nvPr/>
        </p:nvSpPr>
        <p:spPr>
          <a:xfrm>
            <a:off x="3304408" y="4173480"/>
            <a:ext cx="2017727" cy="4154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Gaussian Process </a:t>
            </a:r>
          </a:p>
          <a:p>
            <a:pPr algn="ctr"/>
            <a:r>
              <a:rPr lang="en-US" sz="1050" dirty="0"/>
              <a:t>Regression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4C3F6F9-1A09-6527-B56D-3E7C845ECA29}"/>
              </a:ext>
            </a:extLst>
          </p:cNvPr>
          <p:cNvSpPr txBox="1"/>
          <p:nvPr/>
        </p:nvSpPr>
        <p:spPr>
          <a:xfrm>
            <a:off x="752451" y="2974656"/>
            <a:ext cx="2023769" cy="253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Metadata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4B2FBE4-3CC6-5E0C-DDE5-8F5E79E051CE}"/>
              </a:ext>
            </a:extLst>
          </p:cNvPr>
          <p:cNvSpPr txBox="1"/>
          <p:nvPr/>
        </p:nvSpPr>
        <p:spPr>
          <a:xfrm>
            <a:off x="752451" y="852930"/>
            <a:ext cx="2023769" cy="253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Hysteresis data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8994BCAA-B210-EC1F-A833-8EAE74405C9F}"/>
              </a:ext>
            </a:extLst>
          </p:cNvPr>
          <p:cNvCxnSpPr>
            <a:stCxn id="46" idx="1"/>
            <a:endCxn id="140" idx="1"/>
          </p:cNvCxnSpPr>
          <p:nvPr/>
        </p:nvCxnSpPr>
        <p:spPr>
          <a:xfrm rot="10800000" flipH="1" flipV="1">
            <a:off x="650645" y="636674"/>
            <a:ext cx="101806" cy="343214"/>
          </a:xfrm>
          <a:prstGeom prst="bentConnector3">
            <a:avLst>
              <a:gd name="adj1" fmla="val -22454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968CF0B1-6603-5985-CC9C-EE618520D447}"/>
              </a:ext>
            </a:extLst>
          </p:cNvPr>
          <p:cNvCxnSpPr>
            <a:cxnSpLocks/>
            <a:stCxn id="46" idx="1"/>
            <a:endCxn id="139" idx="1"/>
          </p:cNvCxnSpPr>
          <p:nvPr/>
        </p:nvCxnSpPr>
        <p:spPr>
          <a:xfrm rot="10800000" flipH="1" flipV="1">
            <a:off x="650645" y="636674"/>
            <a:ext cx="101806" cy="2464940"/>
          </a:xfrm>
          <a:prstGeom prst="bentConnector3">
            <a:avLst>
              <a:gd name="adj1" fmla="val -22454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7200250-E14C-5DBE-812F-736E64DD4236}"/>
              </a:ext>
            </a:extLst>
          </p:cNvPr>
          <p:cNvCxnSpPr>
            <a:cxnSpLocks/>
            <a:stCxn id="139" idx="2"/>
            <a:endCxn id="54" idx="0"/>
          </p:cNvCxnSpPr>
          <p:nvPr/>
        </p:nvCxnSpPr>
        <p:spPr>
          <a:xfrm>
            <a:off x="1764336" y="3228572"/>
            <a:ext cx="0" cy="23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B633C6C0-F4FB-0058-AFE6-D6DFC664C791}"/>
              </a:ext>
            </a:extLst>
          </p:cNvPr>
          <p:cNvSpPr txBox="1"/>
          <p:nvPr/>
        </p:nvSpPr>
        <p:spPr>
          <a:xfrm>
            <a:off x="3307432" y="847737"/>
            <a:ext cx="2023769" cy="253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Cantilever column w/P.H.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6B16952-9BC1-DB71-5FA8-2EE8D74D6FD8}"/>
              </a:ext>
            </a:extLst>
          </p:cNvPr>
          <p:cNvSpPr txBox="1"/>
          <p:nvPr/>
        </p:nvSpPr>
        <p:spPr>
          <a:xfrm>
            <a:off x="3301389" y="2969375"/>
            <a:ext cx="2023769" cy="253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Modified Bouc-Wen P.H.</a:t>
            </a:r>
          </a:p>
        </p:txBody>
      </p: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D3A32175-0B90-7070-F0E8-365F7FE419D9}"/>
              </a:ext>
            </a:extLst>
          </p:cNvPr>
          <p:cNvCxnSpPr>
            <a:stCxn id="53" idx="1"/>
            <a:endCxn id="171" idx="1"/>
          </p:cNvCxnSpPr>
          <p:nvPr/>
        </p:nvCxnSpPr>
        <p:spPr>
          <a:xfrm rot="10800000" flipH="1" flipV="1">
            <a:off x="3209060" y="636673"/>
            <a:ext cx="98372" cy="338021"/>
          </a:xfrm>
          <a:prstGeom prst="bentConnector3">
            <a:avLst>
              <a:gd name="adj1" fmla="val -2323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Elbow Connector 175">
            <a:extLst>
              <a:ext uri="{FF2B5EF4-FFF2-40B4-BE49-F238E27FC236}">
                <a16:creationId xmlns:a16="http://schemas.microsoft.com/office/drawing/2014/main" id="{0F97CF15-A063-3DA2-CB05-1F7701426E22}"/>
              </a:ext>
            </a:extLst>
          </p:cNvPr>
          <p:cNvCxnSpPr>
            <a:cxnSpLocks/>
            <a:stCxn id="53" idx="1"/>
            <a:endCxn id="173" idx="1"/>
          </p:cNvCxnSpPr>
          <p:nvPr/>
        </p:nvCxnSpPr>
        <p:spPr>
          <a:xfrm rot="10800000" flipH="1" flipV="1">
            <a:off x="3209059" y="636673"/>
            <a:ext cx="92329" cy="2459659"/>
          </a:xfrm>
          <a:prstGeom prst="bentConnector3">
            <a:avLst>
              <a:gd name="adj1" fmla="val -2475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6" name="Picture 185">
            <a:extLst>
              <a:ext uri="{FF2B5EF4-FFF2-40B4-BE49-F238E27FC236}">
                <a16:creationId xmlns:a16="http://schemas.microsoft.com/office/drawing/2014/main" id="{B9F048FB-2F76-151C-6FFB-6301A26722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1553" y="2895359"/>
            <a:ext cx="2128796" cy="1762114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A3D17C7E-CA99-DA14-55F0-B37D840B9116}"/>
              </a:ext>
            </a:extLst>
          </p:cNvPr>
          <p:cNvSpPr txBox="1"/>
          <p:nvPr/>
        </p:nvSpPr>
        <p:spPr>
          <a:xfrm>
            <a:off x="5681545" y="845499"/>
            <a:ext cx="2023769" cy="253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TMCMC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D14217D-B951-4604-1BB3-B6BF402C9385}"/>
              </a:ext>
            </a:extLst>
          </p:cNvPr>
          <p:cNvSpPr txBox="1"/>
          <p:nvPr/>
        </p:nvSpPr>
        <p:spPr>
          <a:xfrm>
            <a:off x="7032419" y="4008330"/>
            <a:ext cx="651574" cy="230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x290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2CB3CA5-94F9-1F1C-4779-3C2030DF934F}"/>
                  </a:ext>
                </a:extLst>
              </p:cNvPr>
              <p:cNvSpPr txBox="1"/>
              <p:nvPr/>
            </p:nvSpPr>
            <p:spPr>
              <a:xfrm>
                <a:off x="3301388" y="3434014"/>
                <a:ext cx="2023769" cy="46717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Training Data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6×290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05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12×290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2CB3CA5-94F9-1F1C-4779-3C2030DF9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388" y="3434014"/>
                <a:ext cx="2023769" cy="4671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42B275C4-BF3F-36C0-DA3D-D8DBE6382305}"/>
              </a:ext>
            </a:extLst>
          </p:cNvPr>
          <p:cNvCxnSpPr>
            <a:stCxn id="54" idx="3"/>
            <a:endCxn id="192" idx="1"/>
          </p:cNvCxnSpPr>
          <p:nvPr/>
        </p:nvCxnSpPr>
        <p:spPr>
          <a:xfrm>
            <a:off x="2776220" y="3666487"/>
            <a:ext cx="525168" cy="1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Elbow Connector 198">
            <a:extLst>
              <a:ext uri="{FF2B5EF4-FFF2-40B4-BE49-F238E27FC236}">
                <a16:creationId xmlns:a16="http://schemas.microsoft.com/office/drawing/2014/main" id="{015B6D0C-67A8-CAFA-73A2-F9D68CF4DF65}"/>
              </a:ext>
            </a:extLst>
          </p:cNvPr>
          <p:cNvCxnSpPr>
            <a:cxnSpLocks/>
            <a:stCxn id="57" idx="3"/>
            <a:endCxn id="188" idx="3"/>
          </p:cNvCxnSpPr>
          <p:nvPr/>
        </p:nvCxnSpPr>
        <p:spPr>
          <a:xfrm flipH="1">
            <a:off x="7705314" y="636674"/>
            <a:ext cx="105036" cy="335783"/>
          </a:xfrm>
          <a:prstGeom prst="bentConnector3">
            <a:avLst>
              <a:gd name="adj1" fmla="val -21764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1" name="Picture 200">
            <a:extLst>
              <a:ext uri="{FF2B5EF4-FFF2-40B4-BE49-F238E27FC236}">
                <a16:creationId xmlns:a16="http://schemas.microsoft.com/office/drawing/2014/main" id="{79903A55-844C-E980-651B-A8F4108DC1C7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9332" y="1170120"/>
            <a:ext cx="1168964" cy="1085466"/>
          </a:xfrm>
          <a:prstGeom prst="rect">
            <a:avLst/>
          </a:prstGeom>
        </p:spPr>
      </p:pic>
      <p:cxnSp>
        <p:nvCxnSpPr>
          <p:cNvPr id="204" name="Elbow Connector 203">
            <a:extLst>
              <a:ext uri="{FF2B5EF4-FFF2-40B4-BE49-F238E27FC236}">
                <a16:creationId xmlns:a16="http://schemas.microsoft.com/office/drawing/2014/main" id="{AA8A3AEC-1BDD-A7D4-6D60-7622704DB549}"/>
              </a:ext>
            </a:extLst>
          </p:cNvPr>
          <p:cNvCxnSpPr>
            <a:cxnSpLocks/>
            <a:stCxn id="57" idx="3"/>
            <a:endCxn id="60" idx="3"/>
          </p:cNvCxnSpPr>
          <p:nvPr/>
        </p:nvCxnSpPr>
        <p:spPr>
          <a:xfrm flipH="1">
            <a:off x="7810349" y="636674"/>
            <a:ext cx="1" cy="1969136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Elbow Connector 207">
            <a:extLst>
              <a:ext uri="{FF2B5EF4-FFF2-40B4-BE49-F238E27FC236}">
                <a16:creationId xmlns:a16="http://schemas.microsoft.com/office/drawing/2014/main" id="{D186954B-B3EF-3900-CFD8-DF89338FE5EF}"/>
              </a:ext>
            </a:extLst>
          </p:cNvPr>
          <p:cNvCxnSpPr>
            <a:cxnSpLocks/>
            <a:stCxn id="60" idx="1"/>
            <a:endCxn id="192" idx="3"/>
          </p:cNvCxnSpPr>
          <p:nvPr/>
        </p:nvCxnSpPr>
        <p:spPr>
          <a:xfrm rot="10800000" flipV="1">
            <a:off x="5325158" y="2605810"/>
            <a:ext cx="461423" cy="1061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7" name="Picture 216">
            <a:extLst>
              <a:ext uri="{FF2B5EF4-FFF2-40B4-BE49-F238E27FC236}">
                <a16:creationId xmlns:a16="http://schemas.microsoft.com/office/drawing/2014/main" id="{07F99232-40DD-194C-334F-B80A16EB2E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917" t="17041" r="8936" b="6704"/>
          <a:stretch/>
        </p:blipFill>
        <p:spPr>
          <a:xfrm>
            <a:off x="3264425" y="4629276"/>
            <a:ext cx="2109781" cy="1770553"/>
          </a:xfrm>
          <a:prstGeom prst="rect">
            <a:avLst/>
          </a:prstGeom>
        </p:spPr>
      </p:pic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2778452B-8DCC-360D-339C-678E85B3CE44}"/>
              </a:ext>
            </a:extLst>
          </p:cNvPr>
          <p:cNvCxnSpPr>
            <a:stCxn id="192" idx="2"/>
            <a:endCxn id="110" idx="0"/>
          </p:cNvCxnSpPr>
          <p:nvPr/>
        </p:nvCxnSpPr>
        <p:spPr>
          <a:xfrm flipH="1">
            <a:off x="4313272" y="3901193"/>
            <a:ext cx="1" cy="272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AB793DED-C001-EC3B-0DC0-C464C58B3DC4}"/>
                  </a:ext>
                </a:extLst>
              </p:cNvPr>
              <p:cNvSpPr txBox="1"/>
              <p:nvPr/>
            </p:nvSpPr>
            <p:spPr>
              <a:xfrm>
                <a:off x="752450" y="5216687"/>
                <a:ext cx="2023769" cy="4154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New column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AB793DED-C001-EC3B-0DC0-C464C58B3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50" y="5216687"/>
                <a:ext cx="2023769" cy="4154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AE02491D-32E9-5050-EC61-13C87EC89FD4}"/>
              </a:ext>
            </a:extLst>
          </p:cNvPr>
          <p:cNvCxnSpPr>
            <a:cxnSpLocks/>
            <a:stCxn id="226" idx="3"/>
            <a:endCxn id="234" idx="1"/>
          </p:cNvCxnSpPr>
          <p:nvPr/>
        </p:nvCxnSpPr>
        <p:spPr>
          <a:xfrm flipV="1">
            <a:off x="2776219" y="5420412"/>
            <a:ext cx="363893" cy="4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8B47D9E-D3B8-2337-CD45-81A957387A95}"/>
              </a:ext>
            </a:extLst>
          </p:cNvPr>
          <p:cNvCxnSpPr>
            <a:cxnSpLocks/>
            <a:stCxn id="234" idx="3"/>
            <a:endCxn id="238" idx="1"/>
          </p:cNvCxnSpPr>
          <p:nvPr/>
        </p:nvCxnSpPr>
        <p:spPr>
          <a:xfrm>
            <a:off x="5471323" y="5420412"/>
            <a:ext cx="31525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71416E30-AA53-D529-5680-16504E186339}"/>
                  </a:ext>
                </a:extLst>
              </p:cNvPr>
              <p:cNvSpPr txBox="1"/>
              <p:nvPr/>
            </p:nvSpPr>
            <p:spPr>
              <a:xfrm>
                <a:off x="5786580" y="5202788"/>
                <a:ext cx="2023769" cy="4352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Simulation model parameters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71416E30-AA53-D529-5680-16504E186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580" y="5202788"/>
                <a:ext cx="2023769" cy="4352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608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calibration results&#10;&#10;AI-generated content may be incorrect.">
            <a:extLst>
              <a:ext uri="{FF2B5EF4-FFF2-40B4-BE49-F238E27FC236}">
                <a16:creationId xmlns:a16="http://schemas.microsoft.com/office/drawing/2014/main" id="{676DA243-1525-48EC-E33B-2BCDFEEF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6" y="2028482"/>
            <a:ext cx="3734714" cy="2801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71F333-F793-5E72-9D01-6B3AB8395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166" y="1998804"/>
            <a:ext cx="3613111" cy="271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6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E29B0-1C58-DF4B-991F-354BDED0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3" y="795369"/>
            <a:ext cx="4381500" cy="3286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B6931-AA64-E2D6-AA76-4408E53AB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14" y="270499"/>
            <a:ext cx="4381500" cy="3286125"/>
          </a:xfrm>
          <a:prstGeom prst="rect">
            <a:avLst/>
          </a:prstGeom>
        </p:spPr>
      </p:pic>
      <p:pic>
        <p:nvPicPr>
          <p:cNvPr id="17" name="Picture 16" descr="A graph of calibration&#10;&#10;AI-generated content may be incorrect.">
            <a:extLst>
              <a:ext uri="{FF2B5EF4-FFF2-40B4-BE49-F238E27FC236}">
                <a16:creationId xmlns:a16="http://schemas.microsoft.com/office/drawing/2014/main" id="{E8EC9411-E61D-3A29-106F-12190BC00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67" y="3429001"/>
            <a:ext cx="3322175" cy="2491631"/>
          </a:xfrm>
          <a:prstGeom prst="rect">
            <a:avLst/>
          </a:prstGeom>
        </p:spPr>
      </p:pic>
      <p:pic>
        <p:nvPicPr>
          <p:cNvPr id="19" name="Picture 18" descr="A graph of calibration&#10;&#10;AI-generated content may be incorrect.">
            <a:extLst>
              <a:ext uri="{FF2B5EF4-FFF2-40B4-BE49-F238E27FC236}">
                <a16:creationId xmlns:a16="http://schemas.microsoft.com/office/drawing/2014/main" id="{477A0D8B-F937-143C-8997-17C7797C1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855" y="3031753"/>
            <a:ext cx="43815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6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6E44B-1135-DF8B-8DAF-0DEBD5ED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847" y="343076"/>
            <a:ext cx="4381500" cy="3286125"/>
          </a:xfrm>
          <a:prstGeom prst="rect">
            <a:avLst/>
          </a:prstGeom>
        </p:spPr>
      </p:pic>
      <p:pic>
        <p:nvPicPr>
          <p:cNvPr id="3" name="Picture 2" descr="A graph of calibration&#10;&#10;AI-generated content may be incorrect.">
            <a:extLst>
              <a:ext uri="{FF2B5EF4-FFF2-40B4-BE49-F238E27FC236}">
                <a16:creationId xmlns:a16="http://schemas.microsoft.com/office/drawing/2014/main" id="{CBE2FFCA-8255-5C41-FDDC-8C1C55DF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47" y="467498"/>
            <a:ext cx="4381500" cy="3286125"/>
          </a:xfrm>
          <a:prstGeom prst="rect">
            <a:avLst/>
          </a:prstGeom>
        </p:spPr>
      </p:pic>
      <p:pic>
        <p:nvPicPr>
          <p:cNvPr id="7" name="Picture 6" descr="A graph of calibration&#10;&#10;AI-generated content may be incorrect.">
            <a:extLst>
              <a:ext uri="{FF2B5EF4-FFF2-40B4-BE49-F238E27FC236}">
                <a16:creationId xmlns:a16="http://schemas.microsoft.com/office/drawing/2014/main" id="{70ADC404-EA77-AE5E-CC2C-CADB09D91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89" y="3504779"/>
            <a:ext cx="4381500" cy="3286125"/>
          </a:xfrm>
          <a:prstGeom prst="rect">
            <a:avLst/>
          </a:prstGeom>
        </p:spPr>
      </p:pic>
      <p:pic>
        <p:nvPicPr>
          <p:cNvPr id="9" name="Picture 8" descr="A graph of calibration experiment&#10;&#10;AI-generated content may be incorrect.">
            <a:extLst>
              <a:ext uri="{FF2B5EF4-FFF2-40B4-BE49-F238E27FC236}">
                <a16:creationId xmlns:a16="http://schemas.microsoft.com/office/drawing/2014/main" id="{7A1E4CF4-2047-14BF-31B6-FA6C7A6D5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447" y="3566990"/>
            <a:ext cx="43815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2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0E2D08-1F1A-DDD2-BC6E-8824482C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4" y="1395292"/>
            <a:ext cx="4381500" cy="3286125"/>
          </a:xfrm>
          <a:prstGeom prst="rect">
            <a:avLst/>
          </a:prstGeom>
        </p:spPr>
      </p:pic>
      <p:pic>
        <p:nvPicPr>
          <p:cNvPr id="6" name="Picture 5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FD1117E6-EF2F-B212-FE7A-484ED509C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675" y="1395292"/>
            <a:ext cx="43815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2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18032</TotalTime>
  <Words>69</Words>
  <Application>Microsoft Macintosh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Gomez</dc:creator>
  <cp:lastModifiedBy>Miguel Gomez</cp:lastModifiedBy>
  <cp:revision>1</cp:revision>
  <cp:lastPrinted>2025-03-25T18:05:48Z</cp:lastPrinted>
  <dcterms:created xsi:type="dcterms:W3CDTF">2025-03-21T07:20:36Z</dcterms:created>
  <dcterms:modified xsi:type="dcterms:W3CDTF">2025-04-02T19:53:27Z</dcterms:modified>
</cp:coreProperties>
</file>